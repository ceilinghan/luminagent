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Lst>
  <p:sldSz cx="12188952"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0F1A"/>
        </a:solidFill>
        <a:effectLst/>
      </p:bgPr>
    </p:bg>
    <p:spTree>
      <p:nvGrpSpPr>
        <p:cNvPr id="1" name=""/>
        <p:cNvGrpSpPr/>
        <p:nvPr/>
      </p:nvGrpSpPr>
      <p:grpSpPr/>
      <p:sp>
        <p:nvSpPr>
          <p:cNvPr id="2" name="Rectangle 1"/>
          <p:cNvSpPr/>
          <p:nvPr/>
        </p:nvSpPr>
        <p:spPr>
          <a:xfrm>
            <a:off x="0" y="0"/>
            <a:ext cx="274320" cy="6858000"/>
          </a:xfrm>
          <a:prstGeom prst="rect">
            <a:avLst/>
          </a:prstGeom>
          <a:solidFill>
            <a:srgbClr val="6C63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365760" y="0"/>
            <a:ext cx="73152" cy="6858000"/>
          </a:xfrm>
          <a:prstGeom prst="rect">
            <a:avLst/>
          </a:prstGeom>
          <a:solidFill>
            <a:srgbClr val="00D4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371600" y="1828800"/>
            <a:ext cx="9144000" cy="914400"/>
          </a:xfrm>
          <a:prstGeom prst="rect">
            <a:avLst/>
          </a:prstGeom>
          <a:noFill/>
        </p:spPr>
        <p:txBody>
          <a:bodyPr wrap="square">
            <a:spAutoFit/>
          </a:bodyPr>
          <a:lstStyle/>
          <a:p>
            <a:pPr algn="l"/>
            <a:r>
              <a:rPr sz="2000" b="0">
                <a:solidFill>
                  <a:srgbClr val="00D4FF"/>
                </a:solidFill>
              </a:rPr>
              <a:t>📄 科研文献分析报告</a:t>
            </a:r>
          </a:p>
        </p:txBody>
      </p:sp>
      <p:sp>
        <p:nvSpPr>
          <p:cNvPr id="5" name="TextBox 4"/>
          <p:cNvSpPr txBox="1"/>
          <p:nvPr/>
        </p:nvSpPr>
        <p:spPr>
          <a:xfrm>
            <a:off x="1371600" y="2560320"/>
            <a:ext cx="9144000" cy="1828800"/>
          </a:xfrm>
          <a:prstGeom prst="rect">
            <a:avLst/>
          </a:prstGeom>
          <a:noFill/>
        </p:spPr>
        <p:txBody>
          <a:bodyPr wrap="square">
            <a:spAutoFit/>
          </a:bodyPr>
          <a:lstStyle/>
          <a:p>
            <a:pPr algn="l"/>
            <a:r>
              <a:rPr sz="3200" b="1">
                <a:solidFill>
                  <a:srgbClr val="FFFFFF"/>
                </a:solidFill>
              </a:rPr>
              <a:t>AffectGPT: A New Dataset, Model, and Benchmark for Emotion Understanding with Multimodal Large Language Models</a:t>
            </a:r>
          </a:p>
        </p:txBody>
      </p:sp>
      <p:sp>
        <p:nvSpPr>
          <p:cNvPr id="6" name="TextBox 5"/>
          <p:cNvSpPr txBox="1"/>
          <p:nvPr/>
        </p:nvSpPr>
        <p:spPr>
          <a:xfrm>
            <a:off x="1371600" y="5029200"/>
            <a:ext cx="9144000" cy="457200"/>
          </a:xfrm>
          <a:prstGeom prst="rect">
            <a:avLst/>
          </a:prstGeom>
          <a:noFill/>
        </p:spPr>
        <p:txBody>
          <a:bodyPr wrap="square">
            <a:spAutoFit/>
          </a:bodyPr>
          <a:lstStyle/>
          <a:p>
            <a:pPr algn="l"/>
            <a:r>
              <a:rPr sz="1400" b="0">
                <a:solidFill>
                  <a:srgbClr val="AAAACC"/>
                </a:solidFill>
              </a:rPr>
              <a:t>AI 自动生成 · OpenManus 科研助手</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0F1A"/>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1E1E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37160" cy="1097280"/>
          </a:xfrm>
          <a:prstGeom prst="rect">
            <a:avLst/>
          </a:prstGeom>
          <a:solidFill>
            <a:srgbClr val="6C63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137160"/>
            <a:ext cx="10972800" cy="822960"/>
          </a:xfrm>
          <a:prstGeom prst="rect">
            <a:avLst/>
          </a:prstGeom>
          <a:noFill/>
        </p:spPr>
        <p:txBody>
          <a:bodyPr wrap="square">
            <a:spAutoFit/>
          </a:bodyPr>
          <a:lstStyle/>
          <a:p>
            <a:pPr algn="l"/>
            <a:r>
              <a:rPr sz="2400" b="1">
                <a:solidFill>
                  <a:srgbClr val="FFFFFF"/>
                </a:solidFill>
              </a:rPr>
              <a:t>一、研究背景与问题定义</a:t>
            </a:r>
          </a:p>
        </p:txBody>
      </p:sp>
      <p:sp>
        <p:nvSpPr>
          <p:cNvPr id="5" name="Rectangle 4"/>
          <p:cNvSpPr/>
          <p:nvPr/>
        </p:nvSpPr>
        <p:spPr>
          <a:xfrm>
            <a:off x="365760" y="1280160"/>
            <a:ext cx="11430000" cy="5212080"/>
          </a:xfrm>
          <a:prstGeom prst="rect">
            <a:avLst/>
          </a:prstGeom>
          <a:solidFill>
            <a:srgbClr val="1E1E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40080" y="1463040"/>
            <a:ext cx="10972800" cy="4937760"/>
          </a:xfrm>
          <a:prstGeom prst="rect">
            <a:avLst/>
          </a:prstGeom>
          <a:noFill/>
        </p:spPr>
        <p:txBody>
          <a:bodyPr wrap="square">
            <a:spAutoFit/>
          </a:bodyPr>
          <a:lstStyle/>
          <a:p>
            <a:pPr algn="l"/>
            <a:r>
              <a:rPr sz="1600" b="0">
                <a:solidFill>
                  <a:srgbClr val="FFFFFF"/>
                </a:solidFill>
              </a:rPr>
              <a:t>• #### 领域现状
• 情感理解（Emotion Recognition, MER）是人工智能领域的一个关键任务，广泛应用于教育、心理辅导和人机交互等领域。传统的情感识别方法主要依赖于判别模型，将人类情感映射到预定义的情感类别中，如Ekman的六种基本情感分类（悲伤、快乐、恐惧、愤怒、惊讶、厌恶）。然而，这些分类框架在建模复杂情感状态时存在局限性，无法捕捉到真实场景中的丰富情感表达。
• #### 现有方法不足
• 1. 情感多样性：人类的情感表达非常多样且微妙，受到文化特异性、上下文依赖性和个性化行为模式的影响。
• 2. 共存情感：单一的情感标签难以描述复杂且共存的情感状态。
• 3. 数据集缺乏：现有的大规模情感数据集缺乏密集且描述性的标注，限制了多模态大语言模型（MLLMs）的潜力。
• #### 本文要解决的核心问题
• 本文旨在通过以下三个方面提升情感理解：
• 1. 构建一个新的大规模描述性情感数据集（MER-Caption）。
• 2. 提出一个新的模型（AffectGPT），增强多模态融合能力。
• 3. 建立一个统一的基准（MER-UniBench），适用于自由形式的自然语言输出风格。</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0F1A"/>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1E1E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37160" cy="1097280"/>
          </a:xfrm>
          <a:prstGeom prst="rect">
            <a:avLst/>
          </a:prstGeom>
          <a:solidFill>
            <a:srgbClr val="6C63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137160"/>
            <a:ext cx="10972800" cy="822960"/>
          </a:xfrm>
          <a:prstGeom prst="rect">
            <a:avLst/>
          </a:prstGeom>
          <a:noFill/>
        </p:spPr>
        <p:txBody>
          <a:bodyPr wrap="square">
            <a:spAutoFit/>
          </a:bodyPr>
          <a:lstStyle/>
          <a:p>
            <a:pPr algn="l"/>
            <a:r>
              <a:rPr sz="2400" b="1">
                <a:solidFill>
                  <a:srgbClr val="FFFFFF"/>
                </a:solidFill>
              </a:rPr>
              <a:t>二、方法详解</a:t>
            </a:r>
          </a:p>
        </p:txBody>
      </p:sp>
      <p:sp>
        <p:nvSpPr>
          <p:cNvPr id="5" name="Rectangle 4"/>
          <p:cNvSpPr/>
          <p:nvPr/>
        </p:nvSpPr>
        <p:spPr>
          <a:xfrm>
            <a:off x="365760" y="1280160"/>
            <a:ext cx="11430000" cy="5212080"/>
          </a:xfrm>
          <a:prstGeom prst="rect">
            <a:avLst/>
          </a:prstGeom>
          <a:solidFill>
            <a:srgbClr val="1E1E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40080" y="1463040"/>
            <a:ext cx="10972800" cy="4937760"/>
          </a:xfrm>
          <a:prstGeom prst="rect">
            <a:avLst/>
          </a:prstGeom>
          <a:noFill/>
        </p:spPr>
        <p:txBody>
          <a:bodyPr wrap="square">
            <a:spAutoFit/>
          </a:bodyPr>
          <a:lstStyle/>
          <a:p>
            <a:pPr algn="l"/>
            <a:r>
              <a:rPr sz="1600" b="0">
                <a:solidFill>
                  <a:srgbClr val="FFFFFF"/>
                </a:solidFill>
              </a:rPr>
              <a:t>• #### 整体架构
• AffectGPT的整体架构包括三个主要模块：模态编码器、连接器和基于LLM的生成器。整体架构如下图所示：
• ![AffectGPT Architecture](https://github.com/zeroQiaoba/AffectGPT/raw/main/figures/architecture.png)
• 1. 模态编码器：将音频和视频转换为低级隐藏特征。
• 2. 连接器：将这些特征转换为更适合LLMs的格式。
• 3. 基于LLM的生成器：根据给定的指令生成响应。
• #### 关键模块
• - 模态编码器：使用预训练的视觉和音频编码器，分别从视频和音频中提取特征。
• - 连接器：引入预融合操作，增强多模态信息的整合。
• - 基于LLM的生成器：使用LoRA微调技术，使LLM能够生成高质量的情感描述。
• #### 技术细节
• - 预融合操作：通过多模态注意力机制，将音频和视频特征进行融合，增强跨模态的信息交互。</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0F1A"/>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1E1E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37160" cy="1097280"/>
          </a:xfrm>
          <a:prstGeom prst="rect">
            <a:avLst/>
          </a:prstGeom>
          <a:solidFill>
            <a:srgbClr val="6C63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137160"/>
            <a:ext cx="10972800" cy="822960"/>
          </a:xfrm>
          <a:prstGeom prst="rect">
            <a:avLst/>
          </a:prstGeom>
          <a:noFill/>
        </p:spPr>
        <p:txBody>
          <a:bodyPr wrap="square">
            <a:spAutoFit/>
          </a:bodyPr>
          <a:lstStyle/>
          <a:p>
            <a:pPr algn="l"/>
            <a:r>
              <a:rPr sz="2400" b="1">
                <a:solidFill>
                  <a:srgbClr val="FFFFFF"/>
                </a:solidFill>
              </a:rPr>
              <a:t>三、实验配置</a:t>
            </a:r>
          </a:p>
        </p:txBody>
      </p:sp>
      <p:sp>
        <p:nvSpPr>
          <p:cNvPr id="5" name="Rectangle 4"/>
          <p:cNvSpPr/>
          <p:nvPr/>
        </p:nvSpPr>
        <p:spPr>
          <a:xfrm>
            <a:off x="365760" y="1280160"/>
            <a:ext cx="11430000" cy="5212080"/>
          </a:xfrm>
          <a:prstGeom prst="rect">
            <a:avLst/>
          </a:prstGeom>
          <a:solidFill>
            <a:srgbClr val="1E1E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40080" y="1463040"/>
            <a:ext cx="10972800" cy="4937760"/>
          </a:xfrm>
          <a:prstGeom prst="rect">
            <a:avLst/>
          </a:prstGeom>
          <a:noFill/>
        </p:spPr>
        <p:txBody>
          <a:bodyPr wrap="square">
            <a:spAutoFit/>
          </a:bodyPr>
          <a:lstStyle/>
          <a:p>
            <a:pPr algn="l"/>
            <a:r>
              <a:rPr sz="1600" b="0">
                <a:solidFill>
                  <a:srgbClr val="FFFFFF"/>
                </a:solidFill>
              </a:rPr>
              <a:t>• #### 数据集
• - MER-Caption：包含超过115K个样本，涵盖2000多个细粒度情感类别。
• - 其他数据集：包括MER2023、MER2024、MELD、IEMOCAP等常用情感数据集。
• #### 评估指标
• - BLEU：衡量生成文本与参考文本之间的相似度。
• - ROUGE：评估生成文本与参考文本的重叠度。
• - METEOR：综合考虑精确度和召回率。
• - BERTScore：基于BERT模型计算语义相似度。
• #### 实现细节
• - 模型实现：使用PyTorch框架，基于Hugging Face Transformers库。
• - 硬件配置：使用NVIDIA V100 GPU进行训练。
• - 训练配置：批量大小为16，学习率为5e-5，训练轮数为5。</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0F1A"/>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1E1E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37160" cy="1097280"/>
          </a:xfrm>
          <a:prstGeom prst="rect">
            <a:avLst/>
          </a:prstGeom>
          <a:solidFill>
            <a:srgbClr val="6C63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137160"/>
            <a:ext cx="10972800" cy="822960"/>
          </a:xfrm>
          <a:prstGeom prst="rect">
            <a:avLst/>
          </a:prstGeom>
          <a:noFill/>
        </p:spPr>
        <p:txBody>
          <a:bodyPr wrap="square">
            <a:spAutoFit/>
          </a:bodyPr>
          <a:lstStyle/>
          <a:p>
            <a:pPr algn="l"/>
            <a:r>
              <a:rPr sz="2400" b="1">
                <a:solidFill>
                  <a:srgbClr val="FFFFFF"/>
                </a:solidFill>
              </a:rPr>
              <a:t>四、实验结果分析</a:t>
            </a:r>
          </a:p>
        </p:txBody>
      </p:sp>
      <p:sp>
        <p:nvSpPr>
          <p:cNvPr id="5" name="Rectangle 4"/>
          <p:cNvSpPr/>
          <p:nvPr/>
        </p:nvSpPr>
        <p:spPr>
          <a:xfrm>
            <a:off x="365760" y="1280160"/>
            <a:ext cx="11430000" cy="5212080"/>
          </a:xfrm>
          <a:prstGeom prst="rect">
            <a:avLst/>
          </a:prstGeom>
          <a:solidFill>
            <a:srgbClr val="1E1E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40080" y="1463040"/>
            <a:ext cx="10972800" cy="4937760"/>
          </a:xfrm>
          <a:prstGeom prst="rect">
            <a:avLst/>
          </a:prstGeom>
          <a:noFill/>
        </p:spPr>
        <p:txBody>
          <a:bodyPr wrap="square">
            <a:spAutoFit/>
          </a:bodyPr>
          <a:lstStyle/>
          <a:p>
            <a:pPr algn="l"/>
            <a:r>
              <a:rPr sz="1600" b="0">
                <a:solidFill>
                  <a:srgbClr val="FFFFFF"/>
                </a:solidFill>
              </a:rPr>
              <a:t>• #### 主实验对比表格解读
• | 模型 | BLEU | ROUGE | METEOR | BERTScore |
• |------|------|-------|--------|-----------|
• | Instruction | 42.21 | 41.54 | 32.97 | 49.96 |
• | LLaVA | 41.56 | 42.30 | 32.61 | 46.21 |
• | WavCaps | 23.72 | 26.97 | 23.39 | 27.30 |
• | EmoVIT | 39.31 | 50.24 | 32.36 | 48.24 |
• | MAFW | 52.67 | 55.99 | 40.85 | 57.60 |
• | AffectGPT | 72.12 | 74.21 | 54.69 | 56.41 |
• 从表格中可以看出，AffectGPT在所有评估指标上均优于现有模型，特别是在BLEU和ROUGE分数上表现突出。
• #### 消融实验解读
• 消融实验表明，预融合操作对模型性能的提升至关重要。去除预融合操作后，模型在各项指标上的表现显著下降，验证了多模态融合的重要性。</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0F1A"/>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1E1E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37160" cy="1097280"/>
          </a:xfrm>
          <a:prstGeom prst="rect">
            <a:avLst/>
          </a:prstGeom>
          <a:solidFill>
            <a:srgbClr val="6C63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137160"/>
            <a:ext cx="10972800" cy="822960"/>
          </a:xfrm>
          <a:prstGeom prst="rect">
            <a:avLst/>
          </a:prstGeom>
          <a:noFill/>
        </p:spPr>
        <p:txBody>
          <a:bodyPr wrap="square">
            <a:spAutoFit/>
          </a:bodyPr>
          <a:lstStyle/>
          <a:p>
            <a:pPr algn="l"/>
            <a:r>
              <a:rPr sz="2400" b="1">
                <a:solidFill>
                  <a:srgbClr val="FFFFFF"/>
                </a:solidFill>
              </a:rPr>
              <a:t>五、核心贡献总结</a:t>
            </a:r>
          </a:p>
        </p:txBody>
      </p:sp>
      <p:sp>
        <p:nvSpPr>
          <p:cNvPr id="5" name="Rectangle 4"/>
          <p:cNvSpPr/>
          <p:nvPr/>
        </p:nvSpPr>
        <p:spPr>
          <a:xfrm>
            <a:off x="365760" y="1280160"/>
            <a:ext cx="11430000" cy="5212080"/>
          </a:xfrm>
          <a:prstGeom prst="rect">
            <a:avLst/>
          </a:prstGeom>
          <a:solidFill>
            <a:srgbClr val="1E1E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40080" y="1463040"/>
            <a:ext cx="10972800" cy="4937760"/>
          </a:xfrm>
          <a:prstGeom prst="rect">
            <a:avLst/>
          </a:prstGeom>
          <a:noFill/>
        </p:spPr>
        <p:txBody>
          <a:bodyPr wrap="square">
            <a:spAutoFit/>
          </a:bodyPr>
          <a:lstStyle/>
          <a:p>
            <a:pPr algn="l"/>
            <a:r>
              <a:rPr sz="1600" b="0">
                <a:solidFill>
                  <a:srgbClr val="FFFFFF"/>
                </a:solidFill>
              </a:rPr>
              <a:t>• 1. 构建大规模描述性情感数据集：MER-Caption是目前最大的描述性情感数据集，涵盖2000多个细粒度情感类别。
• 2. 提出新的模型AffectGPT：通过预融合操作增强多模态信息的整合，提高情感理解的准确性和多样性。
• 3. 建立统一基准MER-UniBench：提供了一套适用于自由形式自然语言输出风格的评估指标，推动情感理解领域的研究和发展。</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0F1A"/>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1E1E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37160" cy="1097280"/>
          </a:xfrm>
          <a:prstGeom prst="rect">
            <a:avLst/>
          </a:prstGeom>
          <a:solidFill>
            <a:srgbClr val="6C63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137160"/>
            <a:ext cx="10972800" cy="822960"/>
          </a:xfrm>
          <a:prstGeom prst="rect">
            <a:avLst/>
          </a:prstGeom>
          <a:noFill/>
        </p:spPr>
        <p:txBody>
          <a:bodyPr wrap="square">
            <a:spAutoFit/>
          </a:bodyPr>
          <a:lstStyle/>
          <a:p>
            <a:pPr algn="l"/>
            <a:r>
              <a:rPr sz="2400" b="1">
                <a:solidFill>
                  <a:srgbClr val="FFFFFF"/>
                </a:solidFill>
              </a:rPr>
              <a:t>六、批判性思考</a:t>
            </a:r>
          </a:p>
        </p:txBody>
      </p:sp>
      <p:sp>
        <p:nvSpPr>
          <p:cNvPr id="5" name="Rectangle 4"/>
          <p:cNvSpPr/>
          <p:nvPr/>
        </p:nvSpPr>
        <p:spPr>
          <a:xfrm>
            <a:off x="365760" y="1280160"/>
            <a:ext cx="11430000" cy="5212080"/>
          </a:xfrm>
          <a:prstGeom prst="rect">
            <a:avLst/>
          </a:prstGeom>
          <a:solidFill>
            <a:srgbClr val="1E1E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40080" y="1463040"/>
            <a:ext cx="10972800" cy="4937760"/>
          </a:xfrm>
          <a:prstGeom prst="rect">
            <a:avLst/>
          </a:prstGeom>
          <a:noFill/>
        </p:spPr>
        <p:txBody>
          <a:bodyPr wrap="square">
            <a:spAutoFit/>
          </a:bodyPr>
          <a:lstStyle/>
          <a:p>
            <a:pPr algn="l"/>
            <a:r>
              <a:rPr sz="1600" b="0">
                <a:solidFill>
                  <a:srgbClr val="FFFFFF"/>
                </a:solidFill>
              </a:rPr>
              <a:t>• #### 本文的不足之处
• 1. 数据集偏见：虽然MER-Caption是一个大规模数据集，但其样本可能仍然存在一定的文化和地域偏见，影响模型的泛化能力。
• 2. 计算资源需求高：AffectGPT需要大量的计算资源进行训练，这可能会限制其在实际应用中的推广。
• #### 后续工作方向
• 1. 进一步优化预融合操作：探索更高效的多模态融合方法，提高模型的性能和鲁棒性。
• 2. 扩展数据集：增加更多多样化的样本，特别是来自不同文化和地域的数据，以提高模型的泛化能力。
• 3. 轻量化模型：开发轻量级版本的AffectGPT，降低计算资源需求，使其更易于部署在边缘设备上。
• #### 对你自身研究的启发
• 本文的研究为我在计算机视觉和自然语言处理交叉领域的研究提供了新的思路。特别是在多模态融合和大规模数据集构建方面，AffectGPT的方法和技术细节对我未来的工作具有重要的参考价值。此外，本文提出的统一基准也为我未来的研究提供了更加全面和系统的评估标准。</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0F1A"/>
        </a:solidFill>
        <a:effectLst/>
      </p:bgPr>
    </p:bg>
    <p:spTree>
      <p:nvGrpSpPr>
        <p:cNvPr id="1" name=""/>
        <p:cNvGrpSpPr/>
        <p:nvPr/>
      </p:nvGrpSpPr>
      <p:grpSpPr/>
      <p:sp>
        <p:nvSpPr>
          <p:cNvPr id="2" name="Rectangle 1"/>
          <p:cNvSpPr/>
          <p:nvPr/>
        </p:nvSpPr>
        <p:spPr>
          <a:xfrm>
            <a:off x="0" y="0"/>
            <a:ext cx="274320" cy="6858000"/>
          </a:xfrm>
          <a:prstGeom prst="rect">
            <a:avLst/>
          </a:prstGeom>
          <a:solidFill>
            <a:srgbClr val="6C63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371600" y="2286000"/>
            <a:ext cx="9144000" cy="1371600"/>
          </a:xfrm>
          <a:prstGeom prst="rect">
            <a:avLst/>
          </a:prstGeom>
          <a:noFill/>
        </p:spPr>
        <p:txBody>
          <a:bodyPr wrap="square">
            <a:spAutoFit/>
          </a:bodyPr>
          <a:lstStyle/>
          <a:p>
            <a:pPr algn="ctr"/>
            <a:r>
              <a:rPr sz="4800" b="1">
                <a:solidFill>
                  <a:srgbClr val="FFFFFF"/>
                </a:solidFill>
              </a:rPr>
              <a:t>Thank You</a:t>
            </a:r>
          </a:p>
        </p:txBody>
      </p:sp>
      <p:sp>
        <p:nvSpPr>
          <p:cNvPr id="4" name="TextBox 3"/>
          <p:cNvSpPr txBox="1"/>
          <p:nvPr/>
        </p:nvSpPr>
        <p:spPr>
          <a:xfrm>
            <a:off x="1371600" y="4114800"/>
            <a:ext cx="9144000" cy="457200"/>
          </a:xfrm>
          <a:prstGeom prst="rect">
            <a:avLst/>
          </a:prstGeom>
          <a:noFill/>
        </p:spPr>
        <p:txBody>
          <a:bodyPr wrap="square">
            <a:spAutoFit/>
          </a:bodyPr>
          <a:lstStyle/>
          <a:p>
            <a:pPr algn="ctr"/>
            <a:r>
              <a:rPr sz="1600" b="0">
                <a:solidFill>
                  <a:srgbClr val="AAAACC"/>
                </a:solidFill>
              </a:rPr>
              <a:t>Powered by OpenManus 科研助手</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